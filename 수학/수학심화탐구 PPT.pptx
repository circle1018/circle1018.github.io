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4" r:id="rId11"/>
    <p:sldId id="291" r:id="rId12"/>
    <p:sldId id="29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80" d="100"/>
          <a:sy n="8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876"/>
        <p:guide pos="2156"/>
      </p:guideLst>
    </p:cSldViewPr>
  </p:notes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6606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가로 글상자 7"/>
          <p:cNvSpPr txBox="1"/>
          <p:nvPr userDrawn="1"/>
        </p:nvSpPr>
        <p:spPr>
          <a:xfrm>
            <a:off x="360043" y="997595"/>
            <a:ext cx="2388872" cy="335691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1600"/>
              <a:t>컴퓨터 공학과 행렬 연산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141242968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824756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선 11"/>
          <p:cNvCxnSpPr>
            <a:endCxn id="13" idx="1"/>
          </p:cNvCxnSpPr>
          <p:nvPr userDrawn="1"/>
        </p:nvCxnSpPr>
        <p:spPr>
          <a:xfrm flipV="1">
            <a:off x="360123" y="6487157"/>
            <a:ext cx="10087030" cy="10798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가로 글상자 12"/>
          <p:cNvSpPr txBox="1"/>
          <p:nvPr userDrawn="1"/>
        </p:nvSpPr>
        <p:spPr>
          <a:xfrm>
            <a:off x="10447153" y="6318243"/>
            <a:ext cx="1436236" cy="337827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sz="1600">
                <a:latin typeface="한컴 고딕"/>
                <a:ea typeface="한컴 고딕"/>
              </a:rPr>
              <a:t>11004</a:t>
            </a:r>
            <a:r>
              <a:rPr lang="ko-KR" altLang="en-US" sz="1600">
                <a:latin typeface="한컴 고딕"/>
                <a:ea typeface="한컴 고딕"/>
              </a:rPr>
              <a:t> 김동건</a:t>
            </a:r>
            <a:endParaRPr lang="ko-KR" altLang="en-US" sz="1600">
              <a:latin typeface="한컴 고딕"/>
              <a:ea typeface="한컴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2.xml"  /><Relationship Id="rId3" Type="http://schemas.openxmlformats.org/officeDocument/2006/relationships/image" Target="../media/image2.jpeg"  /><Relationship Id="rId4" Type="http://schemas.openxmlformats.org/officeDocument/2006/relationships/image" Target="../media/image3.jpeg"  /><Relationship Id="rId5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3.xml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4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gif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5.xml"  /><Relationship Id="rId3" Type="http://schemas.openxmlformats.org/officeDocument/2006/relationships/image" Target="../media/image9.gif"  /><Relationship Id="rId4" Type="http://schemas.openxmlformats.org/officeDocument/2006/relationships/image" Target="../media/image6.png"  /><Relationship Id="rId5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6.xml"  /><Relationship Id="rId3" Type="http://schemas.openxmlformats.org/officeDocument/2006/relationships/image" Target="../media/image11.gif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7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themeOverride" Target="../theme/themeOverride8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gif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선 1"/>
          <p:cNvCxnSpPr/>
          <p:nvPr userDrawn="1"/>
        </p:nvCxnSpPr>
        <p:spPr>
          <a:xfrm flipV="1">
            <a:off x="360123" y="360045"/>
            <a:ext cx="11471754" cy="10801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가로 글상자 2"/>
          <p:cNvSpPr txBox="1"/>
          <p:nvPr/>
        </p:nvSpPr>
        <p:spPr>
          <a:xfrm>
            <a:off x="360123" y="1628007"/>
            <a:ext cx="5914610" cy="725061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4200" b="1"/>
              <a:t>컴퓨터 공학과 행렬 연산</a:t>
            </a:r>
            <a:endParaRPr lang="ko-KR" altLang="en-US" sz="4200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3254" t="2590" r="9091" b="3188"/>
          <a:stretch>
            <a:fillRect/>
          </a:stretch>
        </p:blipFill>
        <p:spPr>
          <a:xfrm>
            <a:off x="4887056" y="2303187"/>
            <a:ext cx="6711672" cy="3464513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3698103" y="2353068"/>
            <a:ext cx="2576630" cy="388226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2000">
                <a:latin typeface="한컴 고딕"/>
                <a:ea typeface="한컴 고딕"/>
              </a:rPr>
              <a:t>발표자</a:t>
            </a:r>
            <a:r>
              <a:rPr lang="en-US" altLang="ko-KR" sz="2000">
                <a:latin typeface="한컴 고딕"/>
                <a:ea typeface="한컴 고딕"/>
              </a:rPr>
              <a:t>:</a:t>
            </a:r>
            <a:r>
              <a:rPr lang="ko-KR" altLang="en-US" sz="2000">
                <a:latin typeface="한컴 고딕"/>
                <a:ea typeface="한컴 고딕"/>
              </a:rPr>
              <a:t> </a:t>
            </a:r>
            <a:r>
              <a:rPr lang="en-US" altLang="ko-KR" sz="2000">
                <a:latin typeface="한컴 고딕"/>
                <a:ea typeface="한컴 고딕"/>
              </a:rPr>
              <a:t>11004</a:t>
            </a:r>
            <a:r>
              <a:rPr lang="ko-KR" altLang="en-US" sz="2000">
                <a:latin typeface="한컴 고딕"/>
                <a:ea typeface="한컴 고딕"/>
              </a:rPr>
              <a:t> 김동건</a:t>
            </a:r>
            <a:endParaRPr lang="ko-KR" altLang="en-US" sz="2000">
              <a:latin typeface="한컴 고딕"/>
              <a:ea typeface="한컴 고딕"/>
            </a:endParaRPr>
          </a:p>
        </p:txBody>
      </p:sp>
    </p:spTree>
    <p:extLst>
      <p:ext uri="{BB962C8B-B14F-4D97-AF65-F5344CB8AC3E}">
        <p14:creationId xmlns:p14="http://schemas.microsoft.com/office/powerpoint/2010/main" val="808809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16"/>
          <p:cNvCxnSpPr/>
          <p:nvPr/>
        </p:nvCxnSpPr>
        <p:spPr>
          <a:xfrm>
            <a:off x="1783403" y="2983296"/>
            <a:ext cx="2340000" cy="0"/>
          </a:xfrm>
          <a:prstGeom prst="line">
            <a:avLst/>
          </a:prstGeom>
          <a:ln w="6350" cap="rnd">
            <a:solidFill>
              <a:schemeClr val="accent6"/>
            </a:solidFill>
            <a:bevel/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83402" y="2265654"/>
            <a:ext cx="2339999" cy="3077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en-US" altLang="ko-Kore-KR" sz="2000" b="1">
                <a:solidFill>
                  <a:schemeClr val="accent1"/>
                </a:solidFill>
                <a:latin typeface="+mj-ea"/>
                <a:ea typeface="+mj-ea"/>
              </a:rPr>
              <a:t>0</a:t>
            </a:r>
            <a:r>
              <a:rPr kumimoji="1" lang="en-US" altLang="ko-KR" sz="2000" b="1">
                <a:solidFill>
                  <a:schemeClr val="accent1"/>
                </a:solidFill>
                <a:latin typeface="+mj-ea"/>
                <a:ea typeface="+mj-ea"/>
              </a:rPr>
              <a:t>1</a:t>
            </a:r>
            <a:endParaRPr kumimoji="1" lang="ko-Kore-KR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83403" y="2668592"/>
            <a:ext cx="2340000" cy="24622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탐구 동기 및 목적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목차</a:t>
            </a:r>
            <a:endParaRPr kumimoji="1" lang="ko-Kore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3403" y="3106127"/>
            <a:ext cx="2340000" cy="519501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50000"/>
              </a:lnSpc>
              <a:defRPr/>
            </a:pPr>
            <a:r>
              <a:rPr kumimoji="1" lang="ko-KR" altLang="en-US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탐구를 진행하게 된 동기와 목적을 설명한다</a:t>
            </a:r>
            <a:r>
              <a:rPr kumimoji="1" lang="en-US" altLang="ko-KR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.</a:t>
            </a:r>
            <a:endParaRPr kumimoji="1" lang="en-US" altLang="ko-KR" sz="1200">
              <a:solidFill>
                <a:schemeClr val="tx1">
                  <a:alpha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8" name="직선 연결선[R] 40"/>
          <p:cNvCxnSpPr/>
          <p:nvPr/>
        </p:nvCxnSpPr>
        <p:spPr>
          <a:xfrm>
            <a:off x="1783403" y="4942725"/>
            <a:ext cx="2340000" cy="0"/>
          </a:xfrm>
          <a:prstGeom prst="line">
            <a:avLst/>
          </a:prstGeom>
          <a:ln w="6350" cap="rnd">
            <a:solidFill>
              <a:schemeClr val="accent6"/>
            </a:solidFill>
            <a:bevel/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83402" y="4225083"/>
            <a:ext cx="2339999" cy="3077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en-US" altLang="ko-Kore-KR" sz="2000" b="1">
                <a:solidFill>
                  <a:schemeClr val="accent1"/>
                </a:solidFill>
                <a:latin typeface="+mj-ea"/>
                <a:ea typeface="+mj-ea"/>
              </a:rPr>
              <a:t>0</a:t>
            </a:r>
            <a:r>
              <a:rPr kumimoji="1" lang="en-US" altLang="ko-KR" sz="2000" b="1">
                <a:solidFill>
                  <a:schemeClr val="accent1"/>
                </a:solidFill>
                <a:latin typeface="+mj-ea"/>
                <a:ea typeface="+mj-ea"/>
              </a:rPr>
              <a:t>4</a:t>
            </a:r>
            <a:endParaRPr kumimoji="1" lang="ko-Kore-KR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403" y="4628021"/>
            <a:ext cx="2340000" cy="24622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피보나치 수열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3403" y="5065556"/>
            <a:ext cx="2340000" cy="519501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50000"/>
              </a:lnSpc>
              <a:defRPr/>
            </a:pPr>
            <a:r>
              <a:rPr kumimoji="1" lang="ko-KR" altLang="en-US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컴퓨터 공학에서 피보나치 수열을 계산하기 위한 다양한 방법을 탐구한다</a:t>
            </a:r>
            <a:r>
              <a:rPr kumimoji="1" lang="en-US" altLang="ko-KR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.</a:t>
            </a:r>
            <a:endParaRPr kumimoji="1" lang="en-US" altLang="ko-KR" sz="1200">
              <a:solidFill>
                <a:schemeClr val="tx1">
                  <a:alpha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2" name="직선 연결선[R] 45"/>
          <p:cNvCxnSpPr/>
          <p:nvPr/>
        </p:nvCxnSpPr>
        <p:spPr>
          <a:xfrm>
            <a:off x="8090897" y="2983296"/>
            <a:ext cx="2340000" cy="0"/>
          </a:xfrm>
          <a:prstGeom prst="line">
            <a:avLst/>
          </a:prstGeom>
          <a:ln w="6350" cap="rnd">
            <a:solidFill>
              <a:schemeClr val="accent6"/>
            </a:solidFill>
            <a:bevel/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90896" y="2265654"/>
            <a:ext cx="2339999" cy="3077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en-US" altLang="ko-Kore-KR" sz="2000" b="1">
                <a:solidFill>
                  <a:schemeClr val="accent1"/>
                </a:solidFill>
                <a:latin typeface="+mj-ea"/>
                <a:ea typeface="+mj-ea"/>
              </a:rPr>
              <a:t>0</a:t>
            </a:r>
            <a:r>
              <a:rPr kumimoji="1" lang="en-US" altLang="ko-KR" sz="2000" b="1">
                <a:solidFill>
                  <a:schemeClr val="accent1"/>
                </a:solidFill>
                <a:latin typeface="+mj-ea"/>
                <a:ea typeface="+mj-ea"/>
              </a:rPr>
              <a:t>3</a:t>
            </a:r>
            <a:endParaRPr kumimoji="1" lang="ko-Kore-KR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0897" y="2668592"/>
            <a:ext cx="2340000" cy="246221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그래픽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0897" y="3106127"/>
            <a:ext cx="2340000" cy="519501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50000"/>
              </a:lnSpc>
              <a:defRPr/>
            </a:pPr>
            <a:r>
              <a:rPr kumimoji="1" lang="ko-KR" altLang="en-US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컴퓨터 그랙픽 연산에서 도형을 구현하는 방법에 대해 탐구한다</a:t>
            </a:r>
            <a:r>
              <a:rPr kumimoji="1" lang="en-US" altLang="ko-KR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.</a:t>
            </a:r>
            <a:endParaRPr kumimoji="1" lang="en-US" altLang="ko-KR" sz="1200">
              <a:solidFill>
                <a:schemeClr val="tx1">
                  <a:alpha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6" name="직선 연결선[R] 49"/>
          <p:cNvCxnSpPr/>
          <p:nvPr/>
        </p:nvCxnSpPr>
        <p:spPr>
          <a:xfrm>
            <a:off x="8090897" y="4942725"/>
            <a:ext cx="2340000" cy="0"/>
          </a:xfrm>
          <a:prstGeom prst="line">
            <a:avLst/>
          </a:prstGeom>
          <a:ln w="6350" cap="rnd">
            <a:solidFill>
              <a:schemeClr val="accent6"/>
            </a:solidFill>
            <a:bevel/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90896" y="4225083"/>
            <a:ext cx="2339999" cy="3077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en-US" altLang="ko-Kore-KR" sz="2000" b="1">
                <a:solidFill>
                  <a:schemeClr val="accent1"/>
                </a:solidFill>
                <a:latin typeface="+mj-ea"/>
                <a:ea typeface="+mj-ea"/>
              </a:rPr>
              <a:t>0</a:t>
            </a:r>
            <a:r>
              <a:rPr kumimoji="1" lang="en-US" altLang="ko-KR" sz="2000" b="1">
                <a:solidFill>
                  <a:schemeClr val="accent1"/>
                </a:solidFill>
                <a:latin typeface="+mj-ea"/>
                <a:ea typeface="+mj-ea"/>
              </a:rPr>
              <a:t>6</a:t>
            </a:r>
            <a:endParaRPr kumimoji="1" lang="ko-Kore-KR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0897" y="4628021"/>
            <a:ext cx="2340000" cy="24622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느낀점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90897" y="5065556"/>
            <a:ext cx="2340000" cy="519501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50000"/>
              </a:lnSpc>
              <a:defRPr/>
            </a:pPr>
            <a:r>
              <a:rPr kumimoji="1" lang="ko-KR" altLang="en-US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탐구 과정 중 깨달은 점과 느낀점을 설명한다</a:t>
            </a:r>
            <a:r>
              <a:rPr kumimoji="1" lang="en-US" altLang="ko-KR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.</a:t>
            </a:r>
            <a:endParaRPr kumimoji="1" lang="en-US" altLang="ko-KR" sz="1200">
              <a:solidFill>
                <a:schemeClr val="tx1">
                  <a:alpha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20" name="직선 연결선[R] 54"/>
          <p:cNvCxnSpPr/>
          <p:nvPr/>
        </p:nvCxnSpPr>
        <p:spPr>
          <a:xfrm>
            <a:off x="4937148" y="2983296"/>
            <a:ext cx="2340000" cy="0"/>
          </a:xfrm>
          <a:prstGeom prst="line">
            <a:avLst/>
          </a:prstGeom>
          <a:ln w="6350" cap="rnd">
            <a:solidFill>
              <a:schemeClr val="accent6"/>
            </a:solidFill>
            <a:bevel/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147" y="2265654"/>
            <a:ext cx="2339999" cy="3077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en-US" altLang="ko-Kore-KR" sz="2000" b="1">
                <a:solidFill>
                  <a:schemeClr val="accent1"/>
                </a:solidFill>
                <a:latin typeface="+mj-ea"/>
                <a:ea typeface="+mj-ea"/>
              </a:rPr>
              <a:t>0</a:t>
            </a:r>
            <a:r>
              <a:rPr kumimoji="1" lang="en-US" altLang="ko-KR" sz="2000" b="1">
                <a:solidFill>
                  <a:schemeClr val="accent1"/>
                </a:solidFill>
                <a:latin typeface="+mj-ea"/>
                <a:ea typeface="+mj-ea"/>
              </a:rPr>
              <a:t>2</a:t>
            </a:r>
            <a:endParaRPr kumimoji="1" lang="ko-Kore-KR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7148" y="2668592"/>
            <a:ext cx="2340000" cy="24622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행렬의 개념과 사용 이유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37148" y="3106127"/>
            <a:ext cx="2340000" cy="519501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50000"/>
              </a:lnSpc>
              <a:defRPr/>
            </a:pPr>
            <a:r>
              <a:rPr kumimoji="1" lang="ko-KR" altLang="en-US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행렬의 개념과 컴퓨터 공학에서 행렬을 사용하는 이유를 알아본다</a:t>
            </a:r>
            <a:r>
              <a:rPr kumimoji="1" lang="en-US" altLang="ko-KR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.</a:t>
            </a:r>
            <a:endParaRPr kumimoji="1" lang="en-US" altLang="ko-KR" sz="1200">
              <a:solidFill>
                <a:schemeClr val="tx1">
                  <a:alpha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24" name="직선 연결선[R] 58"/>
          <p:cNvCxnSpPr/>
          <p:nvPr/>
        </p:nvCxnSpPr>
        <p:spPr>
          <a:xfrm>
            <a:off x="4937148" y="4942725"/>
            <a:ext cx="2340000" cy="0"/>
          </a:xfrm>
          <a:prstGeom prst="line">
            <a:avLst/>
          </a:prstGeom>
          <a:ln w="6350" cap="rnd">
            <a:solidFill>
              <a:schemeClr val="accent6"/>
            </a:solidFill>
            <a:bevel/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147" y="4225083"/>
            <a:ext cx="2339999" cy="30777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en-US" altLang="ko-Kore-KR" sz="2000" b="1">
                <a:solidFill>
                  <a:schemeClr val="accent1"/>
                </a:solidFill>
                <a:latin typeface="+mj-ea"/>
                <a:ea typeface="+mj-ea"/>
              </a:rPr>
              <a:t>0</a:t>
            </a:r>
            <a:r>
              <a:rPr kumimoji="1" lang="en-US" altLang="ko-KR" sz="2000" b="1">
                <a:solidFill>
                  <a:schemeClr val="accent1"/>
                </a:solidFill>
                <a:latin typeface="+mj-ea"/>
                <a:ea typeface="+mj-ea"/>
              </a:rPr>
              <a:t>5</a:t>
            </a:r>
            <a:endParaRPr kumimoji="1" lang="ko-Kore-KR" altLang="en-US" sz="20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7148" y="4628021"/>
            <a:ext cx="2340000" cy="24622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인공지능 퍼셉트론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7148" y="5065556"/>
            <a:ext cx="2340000" cy="519501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150000"/>
              </a:lnSpc>
              <a:defRPr/>
            </a:pPr>
            <a:r>
              <a:rPr kumimoji="1" lang="ko-KR" altLang="en-US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인공지능에서 행렬이 사용되는 원리를 탐구한다</a:t>
            </a:r>
            <a:r>
              <a:rPr kumimoji="1" lang="en-US" altLang="ko-KR" sz="1200">
                <a:solidFill>
                  <a:schemeClr val="tx1">
                    <a:alpha val="50000"/>
                  </a:schemeClr>
                </a:solidFill>
                <a:latin typeface="+mj-ea"/>
                <a:ea typeface="+mj-ea"/>
              </a:rPr>
              <a:t>.</a:t>
            </a:r>
            <a:endParaRPr kumimoji="1" lang="en-US" altLang="ko-KR" sz="1200">
              <a:solidFill>
                <a:schemeClr val="tx1">
                  <a:alpha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9972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탐구 동기 및 목적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6000" y="2765387"/>
            <a:ext cx="3853960" cy="2160553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12739" y="2765387"/>
            <a:ext cx="2147521" cy="2147521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5"/>
          <a:srcRect b="5146"/>
          <a:stretch>
            <a:fillRect/>
          </a:stretch>
        </p:blipFill>
        <p:spPr>
          <a:xfrm>
            <a:off x="8143500" y="2765387"/>
            <a:ext cx="3352498" cy="2160554"/>
          </a:xfrm>
          <a:prstGeom prst="rect">
            <a:avLst/>
          </a:prstGeom>
        </p:spPr>
      </p:pic>
      <p:sp>
        <p:nvSpPr>
          <p:cNvPr id="38" name="가로 글상자 37"/>
          <p:cNvSpPr txBox="1"/>
          <p:nvPr/>
        </p:nvSpPr>
        <p:spPr>
          <a:xfrm>
            <a:off x="1374370" y="4912908"/>
            <a:ext cx="2497220" cy="266787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1200" b="1"/>
              <a:t>컴퓨터 그래픽 예시</a:t>
            </a:r>
            <a:r>
              <a:rPr lang="en-US" altLang="ko-KR" sz="1200" b="1"/>
              <a:t>:</a:t>
            </a:r>
            <a:r>
              <a:rPr lang="ko-KR" altLang="en-US" sz="1200" b="1"/>
              <a:t> 배틀그라운드</a:t>
            </a:r>
            <a:endParaRPr lang="ko-KR" altLang="en-US" sz="1200" b="1"/>
          </a:p>
        </p:txBody>
      </p:sp>
      <p:sp>
        <p:nvSpPr>
          <p:cNvPr id="39" name="가로 글상자 38"/>
          <p:cNvSpPr txBox="1"/>
          <p:nvPr/>
        </p:nvSpPr>
        <p:spPr>
          <a:xfrm>
            <a:off x="4947343" y="4912908"/>
            <a:ext cx="2678372" cy="266787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1200" b="1"/>
              <a:t>자연에서 찾을 수 있는 피보나치 수열</a:t>
            </a:r>
            <a:endParaRPr lang="ko-KR" altLang="en-US" sz="1200" b="1"/>
          </a:p>
        </p:txBody>
      </p:sp>
      <p:sp>
        <p:nvSpPr>
          <p:cNvPr id="40" name="가로 글상자 39"/>
          <p:cNvSpPr txBox="1"/>
          <p:nvPr/>
        </p:nvSpPr>
        <p:spPr>
          <a:xfrm>
            <a:off x="8990152" y="4908236"/>
            <a:ext cx="1659197" cy="271459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ko-KR" altLang="en-US" sz="1200" b="1"/>
              <a:t>퍼셉트론 연산의 예시</a:t>
            </a:r>
            <a:endParaRPr lang="ko-KR" altLang="en-US" sz="1200" b="1"/>
          </a:p>
        </p:txBody>
      </p:sp>
    </p:spTree>
    <p:extLst>
      <p:ext uri="{BB962C8B-B14F-4D97-AF65-F5344CB8AC3E}">
        <p14:creationId xmlns:p14="http://schemas.microsoft.com/office/powerpoint/2010/main" val="1829893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행렬의 개념과 사용 이유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51288" y="1903195"/>
            <a:ext cx="12192000" cy="391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3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컴퓨터 그래픽 연산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37" name="가로 글상자 36"/>
          <p:cNvSpPr txBox="1"/>
          <p:nvPr/>
        </p:nvSpPr>
        <p:spPr>
          <a:xfrm>
            <a:off x="1406769" y="5176471"/>
            <a:ext cx="246770" cy="36517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9" name="가로 글상자 38"/>
          <p:cNvSpPr txBox="1"/>
          <p:nvPr/>
        </p:nvSpPr>
        <p:spPr>
          <a:xfrm>
            <a:off x="2198077" y="5249740"/>
            <a:ext cx="246038" cy="35858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94534" y="2437832"/>
            <a:ext cx="2450490" cy="2450490"/>
          </a:xfrm>
          <a:prstGeom prst="rect">
            <a:avLst/>
          </a:prstGeom>
        </p:spPr>
      </p:pic>
      <p:sp>
        <p:nvSpPr>
          <p:cNvPr id="45" name="가로 글상자 44"/>
          <p:cNvSpPr txBox="1"/>
          <p:nvPr/>
        </p:nvSpPr>
        <p:spPr>
          <a:xfrm>
            <a:off x="2513574" y="4888322"/>
            <a:ext cx="812409" cy="36517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>
                <a:latin typeface="한컴 고딕"/>
                <a:ea typeface="한컴 고딕"/>
              </a:rPr>
              <a:t>(5,</a:t>
            </a:r>
            <a:r>
              <a:rPr lang="ko-KR" altLang="en-US">
                <a:latin typeface="한컴 고딕"/>
                <a:ea typeface="한컴 고딕"/>
              </a:rPr>
              <a:t> </a:t>
            </a:r>
            <a:r>
              <a:rPr lang="en-US" altLang="ko-KR">
                <a:latin typeface="한컴 고딕"/>
                <a:ea typeface="한컴 고딕"/>
              </a:rPr>
              <a:t>6)</a:t>
            </a:r>
            <a:endParaRPr lang="en-US" altLang="ko-KR">
              <a:latin typeface="한컴 고딕"/>
              <a:ea typeface="한컴 고딕"/>
            </a:endParaRP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46979" y="2437832"/>
            <a:ext cx="2450490" cy="2450490"/>
          </a:xfrm>
          <a:prstGeom prst="rect">
            <a:avLst/>
          </a:prstGeom>
        </p:spPr>
      </p:pic>
      <p:sp>
        <p:nvSpPr>
          <p:cNvPr id="48" name="가로 글상자 47"/>
          <p:cNvSpPr txBox="1"/>
          <p:nvPr/>
        </p:nvSpPr>
        <p:spPr>
          <a:xfrm>
            <a:off x="8262134" y="4888322"/>
            <a:ext cx="2020179" cy="36517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>
                <a:latin typeface="한컴 고딕"/>
                <a:ea typeface="한컴 고딕"/>
              </a:rPr>
              <a:t>(5,</a:t>
            </a:r>
            <a:r>
              <a:rPr lang="ko-KR" altLang="en-US">
                <a:latin typeface="한컴 고딕"/>
                <a:ea typeface="한컴 고딕"/>
              </a:rPr>
              <a:t> </a:t>
            </a:r>
            <a:r>
              <a:rPr lang="en-US" altLang="ko-KR">
                <a:latin typeface="한컴 고딕"/>
                <a:ea typeface="한컴 고딕"/>
              </a:rPr>
              <a:t>6)</a:t>
            </a:r>
            <a:r>
              <a:rPr lang="ko-KR" altLang="en-US">
                <a:latin typeface="한컴 고딕"/>
                <a:ea typeface="한컴 고딕"/>
              </a:rPr>
              <a:t> → </a:t>
            </a:r>
            <a:r>
              <a:rPr lang="en-US" altLang="ko-KR">
                <a:latin typeface="한컴 고딕"/>
                <a:ea typeface="한컴 고딕"/>
              </a:rPr>
              <a:t>(10,</a:t>
            </a:r>
            <a:r>
              <a:rPr lang="ko-KR" altLang="en-US">
                <a:latin typeface="한컴 고딕"/>
                <a:ea typeface="한컴 고딕"/>
              </a:rPr>
              <a:t> </a:t>
            </a:r>
            <a:r>
              <a:rPr lang="en-US" altLang="ko-KR">
                <a:latin typeface="한컴 고딕"/>
                <a:ea typeface="한컴 고딕"/>
              </a:rPr>
              <a:t>18)</a:t>
            </a:r>
            <a:endParaRPr lang="en-US" altLang="ko-KR">
              <a:latin typeface="한컴 고딕"/>
              <a:ea typeface="한컴 고딕"/>
            </a:endParaRPr>
          </a:p>
        </p:txBody>
      </p:sp>
      <p:sp>
        <p:nvSpPr>
          <p:cNvPr id="49" name="오른쪽 화살표 48"/>
          <p:cNvSpPr>
            <a:spLocks noChangeAspect="1"/>
          </p:cNvSpPr>
          <p:nvPr/>
        </p:nvSpPr>
        <p:spPr>
          <a:xfrm>
            <a:off x="5285900" y="2860546"/>
            <a:ext cx="1620202" cy="80253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5">
            <a:lum/>
          </a:blip>
          <a:srcRect/>
          <a:stretch>
            <a:fillRect/>
          </a:stretch>
        </p:blipFill>
        <p:spPr>
          <a:xfrm>
            <a:off x="5375911" y="3758238"/>
            <a:ext cx="1440180" cy="49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19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5386615" y="3758238"/>
            <a:ext cx="1418772" cy="725125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4533" y="2437832"/>
            <a:ext cx="2450490" cy="2450490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46979" y="2437832"/>
            <a:ext cx="2450490" cy="2450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컴퓨터 그래픽 연산 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sp>
        <p:nvSpPr>
          <p:cNvPr id="37" name="가로 글상자 36"/>
          <p:cNvSpPr txBox="1"/>
          <p:nvPr/>
        </p:nvSpPr>
        <p:spPr>
          <a:xfrm>
            <a:off x="1406769" y="5176471"/>
            <a:ext cx="246770" cy="36517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9" name="가로 글상자 38"/>
          <p:cNvSpPr txBox="1"/>
          <p:nvPr/>
        </p:nvSpPr>
        <p:spPr>
          <a:xfrm>
            <a:off x="2198077" y="5249740"/>
            <a:ext cx="246038" cy="35858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45" name="가로 글상자 44"/>
          <p:cNvSpPr txBox="1"/>
          <p:nvPr/>
        </p:nvSpPr>
        <p:spPr>
          <a:xfrm>
            <a:off x="2513574" y="4888322"/>
            <a:ext cx="812409" cy="36517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>
                <a:latin typeface="한컴 고딕"/>
                <a:ea typeface="한컴 고딕"/>
              </a:rPr>
              <a:t>(5,</a:t>
            </a:r>
            <a:r>
              <a:rPr lang="ko-KR" altLang="en-US">
                <a:latin typeface="한컴 고딕"/>
                <a:ea typeface="한컴 고딕"/>
              </a:rPr>
              <a:t> </a:t>
            </a:r>
            <a:r>
              <a:rPr lang="en-US" altLang="ko-KR">
                <a:latin typeface="한컴 고딕"/>
                <a:ea typeface="한컴 고딕"/>
              </a:rPr>
              <a:t>6)</a:t>
            </a:r>
            <a:endParaRPr lang="en-US" altLang="ko-KR">
              <a:latin typeface="한컴 고딕"/>
              <a:ea typeface="한컴 고딕"/>
            </a:endParaRPr>
          </a:p>
        </p:txBody>
      </p:sp>
      <p:sp>
        <p:nvSpPr>
          <p:cNvPr id="48" name="가로 글상자 47"/>
          <p:cNvSpPr txBox="1"/>
          <p:nvPr/>
        </p:nvSpPr>
        <p:spPr>
          <a:xfrm>
            <a:off x="8395046" y="4882167"/>
            <a:ext cx="1754358" cy="36757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>
                <a:latin typeface="한컴 고딕"/>
                <a:ea typeface="한컴 고딕"/>
              </a:rPr>
              <a:t>(5,</a:t>
            </a:r>
            <a:r>
              <a:rPr lang="ko-KR" altLang="en-US">
                <a:latin typeface="한컴 고딕"/>
                <a:ea typeface="한컴 고딕"/>
              </a:rPr>
              <a:t> </a:t>
            </a:r>
            <a:r>
              <a:rPr lang="en-US" altLang="ko-KR">
                <a:latin typeface="한컴 고딕"/>
                <a:ea typeface="한컴 고딕"/>
              </a:rPr>
              <a:t>6)</a:t>
            </a:r>
            <a:r>
              <a:rPr lang="ko-KR" altLang="en-US">
                <a:latin typeface="한컴 고딕"/>
                <a:ea typeface="한컴 고딕"/>
              </a:rPr>
              <a:t> → </a:t>
            </a:r>
            <a:r>
              <a:rPr lang="en-US" altLang="ko-KR">
                <a:latin typeface="한컴 고딕"/>
                <a:ea typeface="한컴 고딕"/>
              </a:rPr>
              <a:t>(7,</a:t>
            </a:r>
            <a:r>
              <a:rPr lang="ko-KR" altLang="en-US">
                <a:latin typeface="한컴 고딕"/>
                <a:ea typeface="한컴 고딕"/>
              </a:rPr>
              <a:t> </a:t>
            </a:r>
            <a:r>
              <a:rPr lang="en-US" altLang="ko-KR">
                <a:latin typeface="한컴 고딕"/>
                <a:ea typeface="한컴 고딕"/>
              </a:rPr>
              <a:t>9)</a:t>
            </a:r>
            <a:endParaRPr lang="en-US" altLang="ko-KR">
              <a:latin typeface="한컴 고딕"/>
              <a:ea typeface="한컴 고딕"/>
            </a:endParaRPr>
          </a:p>
        </p:txBody>
      </p:sp>
      <p:sp>
        <p:nvSpPr>
          <p:cNvPr id="49" name="오른쪽 화살표 48"/>
          <p:cNvSpPr>
            <a:spLocks noChangeAspect="1"/>
          </p:cNvSpPr>
          <p:nvPr/>
        </p:nvSpPr>
        <p:spPr>
          <a:xfrm>
            <a:off x="5285900" y="2860546"/>
            <a:ext cx="1620202" cy="80253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7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컴퓨터 그래픽 연산 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grpSp>
        <p:nvGrpSpPr>
          <p:cNvPr id="60" name=""/>
          <p:cNvGrpSpPr/>
          <p:nvPr/>
        </p:nvGrpSpPr>
        <p:grpSpPr>
          <a:xfrm rot="0">
            <a:off x="1505297" y="2607591"/>
            <a:ext cx="9181406" cy="3090806"/>
            <a:chOff x="1443403" y="1808034"/>
            <a:chExt cx="9181406" cy="3090806"/>
          </a:xfrm>
        </p:grpSpPr>
        <p:pic>
          <p:nvPicPr>
            <p:cNvPr id="57" name="그림 56"/>
            <p:cNvPicPr>
              <a:picLocks noChangeAspect="1"/>
            </p:cNvPicPr>
            <p:nvPr/>
          </p:nvPicPr>
          <p:blipFill rotWithShape="1">
            <a:blip r:embed="rId3">
              <a:lum/>
            </a:blip>
            <a:srcRect/>
            <a:stretch>
              <a:fillRect/>
            </a:stretch>
          </p:blipFill>
          <p:spPr>
            <a:xfrm>
              <a:off x="1443403" y="1808034"/>
              <a:ext cx="9181407" cy="1299467"/>
            </a:xfrm>
            <a:prstGeom prst="rect">
              <a:avLst/>
            </a:prstGeom>
          </p:spPr>
        </p:pic>
        <p:pic>
          <p:nvPicPr>
            <p:cNvPr id="58" name="그림 5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443403" y="3905250"/>
              <a:ext cx="4418162" cy="993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6193488" y="4006391"/>
              <a:ext cx="4431321" cy="79130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83517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피보나치 수열 연산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53901" y="0"/>
            <a:ext cx="4366910" cy="6858000"/>
          </a:xfrm>
          <a:prstGeom prst="rect">
            <a:avLst/>
          </a:prstGeom>
        </p:spPr>
      </p:pic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96000" y="1903195"/>
            <a:ext cx="3816896" cy="1570493"/>
          </a:xfrm>
          <a:prstGeom prst="rect">
            <a:avLst/>
          </a:prstGeom>
        </p:spPr>
      </p:pic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96000" y="3568849"/>
            <a:ext cx="3524137" cy="281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8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피보나치 수열 연산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53901" y="0"/>
            <a:ext cx="4366910" cy="6858000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96000" y="1808034"/>
            <a:ext cx="3832735" cy="105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그림 7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96000" y="3474209"/>
            <a:ext cx="2286097" cy="1072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61306" y="5161656"/>
            <a:ext cx="3867429" cy="10727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6029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696000" y="547042"/>
            <a:ext cx="10800000" cy="646331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kumimoji="1" lang="ko-KR" altLang="en-US" sz="3600" b="1">
                <a:solidFill>
                  <a:schemeClr val="accent1"/>
                </a:solidFill>
                <a:latin typeface="+mj-ea"/>
                <a:ea typeface="+mj-ea"/>
              </a:rPr>
              <a:t>인공지능 퍼셉트론 연산</a:t>
            </a:r>
            <a:endParaRPr kumimoji="1" lang="ko-KR" altLang="en-US" sz="3600" b="1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696000" y="1288534"/>
            <a:ext cx="10800000" cy="5195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>
            <a:lvl1pPr marL="0" indent="0" algn="l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kumimoji="0" sz="18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latin typeface="+mj-ea"/>
              <a:ea typeface="+mj-ea"/>
            </a:endParaRPr>
          </a:p>
        </p:txBody>
      </p:sp>
      <p:grpSp>
        <p:nvGrpSpPr>
          <p:cNvPr id="22" name=""/>
          <p:cNvGrpSpPr/>
          <p:nvPr/>
        </p:nvGrpSpPr>
        <p:grpSpPr>
          <a:xfrm rot="0">
            <a:off x="3766457" y="1903195"/>
            <a:ext cx="4659086" cy="3129419"/>
            <a:chOff x="2775856" y="2413450"/>
            <a:chExt cx="4659086" cy="3129419"/>
          </a:xfrm>
        </p:grpSpPr>
        <p:sp>
          <p:nvSpPr>
            <p:cNvPr id="5" name="타원 4"/>
            <p:cNvSpPr/>
            <p:nvPr/>
          </p:nvSpPr>
          <p:spPr>
            <a:xfrm>
              <a:off x="2775856" y="2445883"/>
              <a:ext cx="914400" cy="914400"/>
            </a:xfrm>
            <a:prstGeom prst="ellipse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2800" b="1">
                  <a:solidFill>
                    <a:schemeClr val="dk1"/>
                  </a:solidFill>
                  <a:latin typeface="한컴 고딕"/>
                  <a:ea typeface="한컴 고딕"/>
                </a:rPr>
                <a:t>5</a:t>
              </a:r>
              <a:endParaRPr lang="en-US" altLang="ko-KR" sz="2800" b="1">
                <a:solidFill>
                  <a:schemeClr val="dk1"/>
                </a:solidFill>
                <a:latin typeface="한컴 고딕"/>
                <a:ea typeface="한컴 고딕"/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2775856" y="3537176"/>
              <a:ext cx="914400" cy="914400"/>
            </a:xfrm>
            <a:prstGeom prst="ellipse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2800" b="1">
                  <a:solidFill>
                    <a:schemeClr val="dk1"/>
                  </a:solidFill>
                  <a:latin typeface="한컴 고딕"/>
                  <a:ea typeface="한컴 고딕"/>
                </a:rPr>
                <a:t>3</a:t>
              </a:r>
              <a:endParaRPr lang="en-US" altLang="ko-KR" sz="2800" b="1">
                <a:solidFill>
                  <a:schemeClr val="dk1"/>
                </a:solidFill>
                <a:latin typeface="한컴 고딕"/>
                <a:ea typeface="한컴 고딕"/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2775856" y="4628470"/>
              <a:ext cx="914400" cy="914400"/>
            </a:xfrm>
            <a:prstGeom prst="ellipse">
              <a:avLst/>
            </a:prstGeom>
            <a:solidFill>
              <a:schemeClr val="lt1"/>
            </a:solidFill>
            <a:ln>
              <a:solidFill>
                <a:srgbClr val="2e3e67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2800" b="1">
                  <a:solidFill>
                    <a:schemeClr val="dk1"/>
                  </a:solidFill>
                  <a:latin typeface="한컴 고딕"/>
                  <a:ea typeface="한컴 고딕"/>
                </a:rPr>
                <a:t>2</a:t>
              </a:r>
              <a:endParaRPr lang="en-US" altLang="ko-KR" sz="2800" b="1">
                <a:solidFill>
                  <a:schemeClr val="dk1"/>
                </a:solidFill>
                <a:latin typeface="한컴 고딕"/>
                <a:ea typeface="한컴 고딕"/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6520542" y="2445883"/>
              <a:ext cx="914400" cy="914400"/>
            </a:xfrm>
            <a:prstGeom prst="ellipse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2800" b="1">
                  <a:solidFill>
                    <a:schemeClr val="dk1"/>
                  </a:solidFill>
                  <a:latin typeface="한컴 고딕"/>
                  <a:ea typeface="한컴 고딕"/>
                </a:rPr>
                <a:t>19</a:t>
              </a:r>
              <a:endParaRPr lang="en-US" altLang="ko-KR" sz="2800" b="1">
                <a:solidFill>
                  <a:schemeClr val="dk1"/>
                </a:solidFill>
                <a:latin typeface="한컴 고딕"/>
                <a:ea typeface="한컴 고딕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6520542" y="3537176"/>
              <a:ext cx="914400" cy="914400"/>
            </a:xfrm>
            <a:prstGeom prst="ellipse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2800" b="1">
                  <a:solidFill>
                    <a:schemeClr val="dk1"/>
                  </a:solidFill>
                  <a:latin typeface="한컴 고딕"/>
                  <a:ea typeface="한컴 고딕"/>
                </a:rPr>
                <a:t>29</a:t>
              </a:r>
              <a:endParaRPr lang="en-US" altLang="ko-KR" sz="2800" b="1">
                <a:solidFill>
                  <a:schemeClr val="dk1"/>
                </a:solidFill>
                <a:latin typeface="한컴 고딕"/>
                <a:ea typeface="한컴 고딕"/>
              </a:endParaRPr>
            </a:p>
          </p:txBody>
        </p:sp>
        <p:sp>
          <p:nvSpPr>
            <p:cNvPr id="10" name="타원 9"/>
            <p:cNvSpPr/>
            <p:nvPr/>
          </p:nvSpPr>
          <p:spPr>
            <a:xfrm>
              <a:off x="6520542" y="4628470"/>
              <a:ext cx="914400" cy="914400"/>
            </a:xfrm>
            <a:prstGeom prst="ellipse">
              <a:avLst/>
            </a:prstGeom>
            <a:solidFill>
              <a:schemeClr val="lt1"/>
            </a:solidFill>
            <a:ln>
              <a:solidFill>
                <a:srgbClr val="2e3e67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en-US" altLang="ko-KR" sz="2800" b="1">
                  <a:solidFill>
                    <a:schemeClr val="dk1"/>
                  </a:solidFill>
                  <a:latin typeface="한컴 고딕"/>
                  <a:ea typeface="한컴 고딕"/>
                </a:rPr>
                <a:t>39</a:t>
              </a:r>
              <a:endParaRPr lang="en-US" altLang="ko-KR" sz="2800" b="1">
                <a:solidFill>
                  <a:schemeClr val="dk1"/>
                </a:solidFill>
                <a:latin typeface="한컴 고딕"/>
                <a:ea typeface="한컴 고딕"/>
              </a:endParaRPr>
            </a:p>
          </p:txBody>
        </p:sp>
        <p:cxnSp>
          <p:nvCxnSpPr>
            <p:cNvPr id="15" name="화살표 14"/>
            <p:cNvCxnSpPr/>
            <p:nvPr/>
          </p:nvCxnSpPr>
          <p:spPr>
            <a:xfrm rot="10800000">
              <a:off x="4050302" y="2910921"/>
              <a:ext cx="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화살표 15"/>
            <p:cNvCxnSpPr/>
            <p:nvPr/>
          </p:nvCxnSpPr>
          <p:spPr>
            <a:xfrm flipV="1">
              <a:off x="4050301" y="2903083"/>
              <a:ext cx="2110196" cy="7837"/>
            </a:xfrm>
            <a:prstGeom prst="straightConnector1">
              <a:avLst/>
            </a:prstGeom>
            <a:ln w="635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화살표 16"/>
            <p:cNvCxnSpPr/>
            <p:nvPr/>
          </p:nvCxnSpPr>
          <p:spPr>
            <a:xfrm flipV="1">
              <a:off x="4050303" y="2903084"/>
              <a:ext cx="2110194" cy="1091293"/>
            </a:xfrm>
            <a:prstGeom prst="straightConnector1">
              <a:avLst/>
            </a:prstGeom>
            <a:ln w="63500">
              <a:solidFill>
                <a:schemeClr val="accent1"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화살표 17"/>
            <p:cNvCxnSpPr/>
            <p:nvPr/>
          </p:nvCxnSpPr>
          <p:spPr>
            <a:xfrm rot="5400000" flipH="1" flipV="1">
              <a:off x="4018025" y="2935361"/>
              <a:ext cx="2174748" cy="2110194"/>
            </a:xfrm>
            <a:prstGeom prst="straightConnector1">
              <a:avLst/>
            </a:prstGeom>
            <a:ln w="63500">
              <a:solidFill>
                <a:schemeClr val="accent1">
                  <a:satMod val="10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가로 글상자 18"/>
            <p:cNvSpPr txBox="1"/>
            <p:nvPr/>
          </p:nvSpPr>
          <p:spPr>
            <a:xfrm>
              <a:off x="4986609" y="2413450"/>
              <a:ext cx="237581" cy="39447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en-US" altLang="ko-KR" sz="2000" b="1">
                  <a:latin typeface="한컴 고딕"/>
                  <a:ea typeface="한컴 고딕"/>
                </a:rPr>
                <a:t>1</a:t>
              </a:r>
              <a:endParaRPr lang="en-US" altLang="ko-KR" sz="2000" b="1">
                <a:latin typeface="한컴 고딕"/>
                <a:ea typeface="한컴 고딕"/>
              </a:endParaRPr>
            </a:p>
          </p:txBody>
        </p:sp>
        <p:sp>
          <p:nvSpPr>
            <p:cNvPr id="20" name="가로 글상자 19"/>
            <p:cNvSpPr txBox="1"/>
            <p:nvPr/>
          </p:nvSpPr>
          <p:spPr>
            <a:xfrm>
              <a:off x="4986609" y="3006082"/>
              <a:ext cx="237581" cy="39447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en-US" altLang="ko-KR" sz="2000" b="1">
                  <a:latin typeface="한컴 고딕"/>
                  <a:ea typeface="한컴 고딕"/>
                </a:rPr>
                <a:t>2</a:t>
              </a:r>
              <a:endParaRPr lang="en-US" altLang="ko-KR" sz="2000" b="1">
                <a:latin typeface="한컴 고딕"/>
                <a:ea typeface="한컴 고딕"/>
              </a:endParaRPr>
            </a:p>
          </p:txBody>
        </p:sp>
        <p:sp>
          <p:nvSpPr>
            <p:cNvPr id="21" name="가로 글상자 20"/>
            <p:cNvSpPr txBox="1"/>
            <p:nvPr/>
          </p:nvSpPr>
          <p:spPr>
            <a:xfrm>
              <a:off x="4986609" y="4233998"/>
              <a:ext cx="237581" cy="39447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en-US" altLang="ko-KR" sz="2000" b="1">
                  <a:latin typeface="한컴 고딕"/>
                  <a:ea typeface="한컴 고딕"/>
                </a:rPr>
                <a:t>4</a:t>
              </a:r>
              <a:endParaRPr lang="en-US" altLang="ko-KR" sz="2000" b="1">
                <a:latin typeface="한컴 고딕"/>
                <a:ea typeface="한컴 고딕"/>
              </a:endParaRP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>
            <a:lum/>
          </a:blip>
          <a:srcRect/>
          <a:stretch>
            <a:fillRect/>
          </a:stretch>
        </p:blipFill>
        <p:spPr>
          <a:xfrm>
            <a:off x="4652424" y="5127775"/>
            <a:ext cx="2887150" cy="86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27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 txBox="1"/>
          <p:nvPr/>
        </p:nvSpPr>
        <p:spPr>
          <a:xfrm>
            <a:off x="1772055" y="2445285"/>
            <a:ext cx="8647890" cy="102512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 algn="ctr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sz="44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 b="1">
                <a:solidFill>
                  <a:srgbClr val="4261f8"/>
                </a:solidFill>
                <a:latin typeface="+mj-ea"/>
              </a:rPr>
              <a:t>감사합니다</a:t>
            </a:r>
            <a:endParaRPr lang="ko-KR" altLang="en-US" b="1">
              <a:solidFill>
                <a:srgbClr val="4261f8"/>
              </a:solidFill>
              <a:latin typeface="+mj-ea"/>
            </a:endParaRPr>
          </a:p>
        </p:txBody>
      </p:sp>
      <p:sp>
        <p:nvSpPr>
          <p:cNvPr id="3" name="제목 3"/>
          <p:cNvSpPr txBox="1"/>
          <p:nvPr/>
        </p:nvSpPr>
        <p:spPr>
          <a:xfrm>
            <a:off x="1772055" y="3489397"/>
            <a:ext cx="8647890" cy="34541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 algn="ctr" defTabSz="232257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sz="4400" b="0" i="0" u="none" strike="noStrike" kern="1200" cap="none" spc="0" normalizeH="0" baseline="0">
                <a:solidFill>
                  <a:schemeClr val="tx1"/>
                </a:solidFill>
              </a:defRPr>
            </a:lvl1pPr>
          </a:lstStyle>
          <a:p>
            <a:pPr marL="36000" lvl="0">
              <a:defRPr/>
            </a:pPr>
            <a:r>
              <a:rPr kumimoji="1" lang="ko-KR" altLang="en-US" sz="1600" b="1">
                <a:solidFill>
                  <a:srgbClr val="000d59"/>
                </a:solidFill>
                <a:latin typeface="+mj-ea"/>
                <a:ea typeface="+mj-ea"/>
              </a:rPr>
              <a:t>컴퓨터 공학과 행렬 연산</a:t>
            </a:r>
            <a:endParaRPr kumimoji="1" lang="ko-KR" altLang="en-US" sz="1600" b="1">
              <a:solidFill>
                <a:srgbClr val="000d59"/>
              </a:solidFill>
              <a:latin typeface="+mj-ea"/>
              <a:ea typeface="+mj-ea"/>
            </a:endParaRPr>
          </a:p>
        </p:txBody>
      </p:sp>
      <p:cxnSp>
        <p:nvCxnSpPr>
          <p:cNvPr id="4" name="선 3"/>
          <p:cNvCxnSpPr/>
          <p:nvPr userDrawn="1"/>
        </p:nvCxnSpPr>
        <p:spPr>
          <a:xfrm>
            <a:off x="360045" y="4246637"/>
            <a:ext cx="11471911" cy="0"/>
          </a:xfrm>
          <a:prstGeom prst="line">
            <a:avLst/>
          </a:prstGeom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가로 글상자 6"/>
          <p:cNvSpPr txBox="1"/>
          <p:nvPr/>
        </p:nvSpPr>
        <p:spPr>
          <a:xfrm>
            <a:off x="360043" y="4426660"/>
            <a:ext cx="3341372" cy="173411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 b="1">
                <a:latin typeface="맑은 고딕"/>
              </a:rPr>
              <a:t>[</a:t>
            </a:r>
            <a:r>
              <a:rPr lang="ko-KR" altLang="en-US" b="1">
                <a:latin typeface="맑은 고딕"/>
              </a:rPr>
              <a:t>이미지 출처</a:t>
            </a:r>
            <a:r>
              <a:rPr lang="en-US" altLang="ko-KR" b="1">
                <a:latin typeface="맑은 고딕"/>
              </a:rPr>
              <a:t>]</a:t>
            </a:r>
            <a:endParaRPr lang="en-US" altLang="ko-KR" b="1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en-US" altLang="ko-KR" b="0">
                <a:latin typeface="맑은 고딕"/>
              </a:rPr>
              <a:t>Slide1 - </a:t>
            </a:r>
            <a:r>
              <a:rPr lang="ko-KR" altLang="en-US" b="0">
                <a:latin typeface="맑은 고딕"/>
              </a:rPr>
              <a:t>세그먼트 트리</a:t>
            </a:r>
            <a:endParaRPr lang="ko-KR" altLang="en-US" b="0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b="0">
                <a:latin typeface="맑은 고딕"/>
              </a:rPr>
              <a:t>Slide</a:t>
            </a:r>
            <a:r>
              <a:rPr lang="en-US" altLang="ko-KR" b="0">
                <a:latin typeface="맑은 고딕"/>
              </a:rPr>
              <a:t>3</a:t>
            </a:r>
            <a:r>
              <a:rPr lang="ko-KR" altLang="en-US" b="0">
                <a:latin typeface="맑은 고딕"/>
              </a:rPr>
              <a:t> </a:t>
            </a:r>
            <a:r>
              <a:rPr lang="en-US" altLang="ko-KR" b="0">
                <a:latin typeface="맑은 고딕"/>
              </a:rPr>
              <a:t>-</a:t>
            </a:r>
            <a:r>
              <a:rPr lang="ko-KR" altLang="en-US" b="0">
                <a:latin typeface="맑은 고딕"/>
              </a:rPr>
              <a:t> 컴퓨터 그래픽 예시</a:t>
            </a:r>
            <a:endParaRPr lang="ko-KR" altLang="en-US" b="0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b="0">
                <a:latin typeface="맑은 고딕"/>
              </a:rPr>
              <a:t>Slide</a:t>
            </a:r>
            <a:r>
              <a:rPr lang="en-US" altLang="ko-KR" b="0">
                <a:latin typeface="맑은 고딕"/>
              </a:rPr>
              <a:t>3</a:t>
            </a:r>
            <a:r>
              <a:rPr lang="ko-KR" altLang="en-US" b="0">
                <a:latin typeface="맑은 고딕"/>
              </a:rPr>
              <a:t> </a:t>
            </a:r>
            <a:r>
              <a:rPr lang="en-US" altLang="ko-KR" b="0">
                <a:latin typeface="맑은 고딕"/>
              </a:rPr>
              <a:t>-</a:t>
            </a:r>
            <a:r>
              <a:rPr lang="ko-KR" altLang="en-US" b="0">
                <a:latin typeface="맑은 고딕"/>
              </a:rPr>
              <a:t> 피보나치 수열 예시</a:t>
            </a:r>
            <a:endParaRPr lang="ko-KR" altLang="en-US" b="0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b="0">
                <a:latin typeface="맑은 고딕"/>
              </a:rPr>
              <a:t>Slide</a:t>
            </a:r>
            <a:r>
              <a:rPr lang="en-US" altLang="ko-KR" b="0">
                <a:latin typeface="맑은 고딕"/>
              </a:rPr>
              <a:t>3</a:t>
            </a:r>
            <a:r>
              <a:rPr lang="ko-KR" altLang="en-US" b="0">
                <a:latin typeface="맑은 고딕"/>
              </a:rPr>
              <a:t> </a:t>
            </a:r>
            <a:r>
              <a:rPr lang="en-US" altLang="ko-KR" b="0">
                <a:latin typeface="맑은 고딕"/>
              </a:rPr>
              <a:t>-</a:t>
            </a:r>
            <a:r>
              <a:rPr lang="ko-KR" altLang="en-US" b="0">
                <a:latin typeface="맑은 고딕"/>
              </a:rPr>
              <a:t> 퍼셉트론 연산 예시</a:t>
            </a:r>
            <a:endParaRPr lang="ko-KR" altLang="en-US" b="0">
              <a:latin typeface="맑은 고딕"/>
            </a:endParaRPr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 b="0">
                <a:latin typeface="맑은 고딕"/>
              </a:rPr>
              <a:t>Slide</a:t>
            </a:r>
            <a:r>
              <a:rPr lang="en-US" altLang="ko-KR" b="0">
                <a:latin typeface="맑은 고딕"/>
              </a:rPr>
              <a:t>4</a:t>
            </a:r>
            <a:r>
              <a:rPr lang="ko-KR" altLang="en-US" b="0">
                <a:latin typeface="맑은 고딕"/>
              </a:rPr>
              <a:t> </a:t>
            </a:r>
            <a:r>
              <a:rPr lang="en-US" altLang="ko-KR" b="0">
                <a:latin typeface="맑은 고딕"/>
              </a:rPr>
              <a:t>-</a:t>
            </a:r>
            <a:r>
              <a:rPr lang="ko-KR" altLang="en-US" b="0">
                <a:latin typeface="맑은 고딕"/>
              </a:rPr>
              <a:t> 행렬곱 예시</a:t>
            </a:r>
            <a:endParaRPr lang="ko-KR" altLang="en-US" b="0">
              <a:latin typeface="맑은 고딕"/>
            </a:endParaRPr>
          </a:p>
        </p:txBody>
      </p:sp>
      <p:sp>
        <p:nvSpPr>
          <p:cNvPr id="8" name="가로 글상자 7"/>
          <p:cNvSpPr txBox="1"/>
          <p:nvPr/>
        </p:nvSpPr>
        <p:spPr>
          <a:xfrm>
            <a:off x="7137400" y="2774352"/>
            <a:ext cx="240665" cy="366993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3910965" y="4426660"/>
            <a:ext cx="3952875" cy="1734110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en-US" altLang="ko-KR" b="1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en-US" altLang="ko-KR" b="0">
                <a:latin typeface="맑은 고딕"/>
              </a:rPr>
              <a:t>:</a:t>
            </a:r>
            <a:r>
              <a:rPr lang="ko-KR" altLang="en-US" b="0">
                <a:latin typeface="맑은 고딕"/>
              </a:rPr>
              <a:t> 안경잡이 개발자</a:t>
            </a:r>
            <a:endParaRPr lang="ko-KR" altLang="en-US" b="0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en-US" altLang="ko-KR" b="0">
                <a:latin typeface="맑은 고딕"/>
              </a:rPr>
              <a:t>:</a:t>
            </a:r>
            <a:r>
              <a:rPr lang="ko-KR" altLang="en-US" b="0">
                <a:latin typeface="맑은 고딕"/>
              </a:rPr>
              <a:t> 크래프톤</a:t>
            </a:r>
            <a:endParaRPr lang="ko-KR" altLang="en-US" b="0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en-US" altLang="ko-KR" b="0">
                <a:latin typeface="맑은 고딕"/>
              </a:rPr>
              <a:t>:</a:t>
            </a:r>
            <a:r>
              <a:rPr lang="ko-KR" altLang="en-US" b="0">
                <a:latin typeface="맑은 고딕"/>
              </a:rPr>
              <a:t> </a:t>
            </a:r>
            <a:r>
              <a:rPr lang="en-US" altLang="ko-KR" b="0">
                <a:latin typeface="맑은 고딕"/>
              </a:rPr>
              <a:t>Pinterest - Art of Problem Solving</a:t>
            </a:r>
            <a:endParaRPr lang="ko-KR" altLang="en-US" b="0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en-US" altLang="ko-KR" b="0">
                <a:latin typeface="맑은 고딕"/>
              </a:rPr>
              <a:t>:</a:t>
            </a:r>
            <a:r>
              <a:rPr lang="ko-KR" altLang="en-US" b="0">
                <a:latin typeface="맑은 고딕"/>
              </a:rPr>
              <a:t> 딥 러닝을 이용한 자연어 처리 입문</a:t>
            </a:r>
            <a:endParaRPr lang="ko-KR" altLang="en-US" b="0">
              <a:latin typeface="맑은 고딕"/>
            </a:endParaRPr>
          </a:p>
          <a:p>
            <a:pPr marL="0" lvl="0" indent="0">
              <a:buFont typeface="Arial"/>
              <a:buNone/>
              <a:defRPr/>
            </a:pPr>
            <a:r>
              <a:rPr lang="en-US" altLang="ko-KR" b="0">
                <a:latin typeface="맑은 고딕"/>
              </a:rPr>
              <a:t>:</a:t>
            </a:r>
            <a:r>
              <a:rPr lang="ko-KR" altLang="en-US" b="0">
                <a:latin typeface="맑은 고딕"/>
              </a:rPr>
              <a:t> 공돌이의 수학정리노트</a:t>
            </a:r>
            <a:endParaRPr lang="ko-KR" altLang="en-US" b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2325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700">
        <p:fade/>
      </p:transition>
    </mc:Choice>
    <mc:Fallback>
      <p:transition xmlns:mc="http://schemas.openxmlformats.org/markup-compatibility/2006" xmlns:hp="http://schemas.haansoft.com/office/presentation/8.0" mc:Ignorable="hp" hp:hslDur="700">
        <p:fade/>
      </p:transition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2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3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4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5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6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7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ppt/theme/themeOverride8.xml><?xml version="1.0" encoding="utf-8"?>
<a:themeOverrid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>
  <a:clrScheme name="디자인마당">
    <a:dk1>
      <a:srgbClr val="323232"/>
    </a:dk1>
    <a:lt1>
      <a:srgbClr val="ffffff"/>
    </a:lt1>
    <a:dk2>
      <a:srgbClr val="8492a4"/>
    </a:dk2>
    <a:lt2>
      <a:srgbClr val="ffcd03"/>
    </a:lt2>
    <a:accent1>
      <a:srgbClr val="4261f8"/>
    </a:accent1>
    <a:accent2>
      <a:srgbClr val="ff3482"/>
    </a:accent2>
    <a:accent3>
      <a:srgbClr val="9aa4b1"/>
    </a:accent3>
    <a:accent4>
      <a:srgbClr val="00c1ff"/>
    </a:accent4>
    <a:accent5>
      <a:srgbClr val="d5dce3"/>
    </a:accent5>
    <a:accent6>
      <a:srgbClr val="f0f2f6"/>
    </a:accent6>
    <a:hlink>
      <a:srgbClr val="00ffff"/>
    </a:hlink>
    <a:folHlink>
      <a:srgbClr val="525c73"/>
    </a:folHlink>
  </a:clrScheme>
</a:themeOverrid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218</ep:Words>
  <ep:PresentationFormat>화면 슬라이드 쇼(4:3)</ep:PresentationFormat>
  <ep:Paragraphs>66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2026-07-04T12:31:00.456</dcterms:created>
  <dc:creator>DongGeon</dc:creator>
  <cp:lastModifiedBy>DongGeon</cp:lastModifiedBy>
  <dcterms:modified xsi:type="dcterms:W3CDTF">2026-07-09T09:21:18.013</dcterms:modified>
  <cp:revision>178</cp:revision>
  <cp:version>13.0.0.3621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